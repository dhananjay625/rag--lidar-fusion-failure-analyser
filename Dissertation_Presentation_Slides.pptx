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24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7301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Autonomous driving detectors fail 20-40% in rain, fog and snow, especially at oblique angles. The degradation is angle-dependent and not well understood. That is the gap this dissertation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uses pre-trained 3D object detection models to measure how detection accuracy varies by angle, weather and dataset. Two pre-trained models are combined: SAMFusion for bad conditions, BEVFusion for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both models on every frame and combine their predictions. Two weighting methods: weather-based and confidence-based. The table states why the combination should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delivers three heatmaps and a cross-dataset validation. Click the tabs to show which heatmap is which — the cells are filled by the Phase 1 runs. Phase 2 is optimisation of the ensemble weighting,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options for CANBUS integration, from read-only context through the full AEB loop. Ask the supervisor which scope is appropriate.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two model roles, the research question, and the tech stack that supports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3076501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47750" y="742950"/>
            <a:ext cx="1781175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607" y="1249635"/>
            <a:ext cx="17837207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24"/>
              </a:lnSpc>
              <a:buNone/>
            </a:pPr>
            <a:r>
              <a:rPr lang="en-US" sz="4350" kern="0" spc="-43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- Camera Fusion Robustness in Adverse Weather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047750" y="2028751"/>
            <a:ext cx="1667827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2100" dirty="0">
                <a:solidFill>
                  <a:srgbClr val="201F1D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driving detectors fail 20 - 40% in rain, fog and snow, especially at oblique angles (90°, 180° azimuth). The degradation is angle-dependent and not well understood.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3409876"/>
            <a:ext cx="10385249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ANGLE-DEPENDENT FAILURE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3897511"/>
            <a:ext cx="10385249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891"/>
              </a:lnSpc>
              <a:buNone/>
            </a:pPr>
            <a:r>
              <a:rPr lang="en-US" sz="8700" kern="0" spc="-174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20 - 40%</a:t>
            </a:r>
            <a:endParaRPr lang="en-US" sz="8700" dirty="0"/>
          </a:p>
        </p:txBody>
      </p:sp>
      <p:sp>
        <p:nvSpPr>
          <p:cNvPr id="8" name="Text 6"/>
          <p:cNvSpPr/>
          <p:nvPr/>
        </p:nvSpPr>
        <p:spPr>
          <a:xfrm>
            <a:off x="1047750" y="5135761"/>
            <a:ext cx="1038524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1F1F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failure in rain, fog and snow - worst at 90° and 180° azimuth.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7762875"/>
            <a:ext cx="944113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0" y="8001000"/>
            <a:ext cx="10385249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2550" kern="0" spc="204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47750" y="8405813"/>
            <a:ext cx="9724369" cy="1252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25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does adverse weather affect LIDAR-camera fusion perfomance across different observations angles, and can combined fusion models improve robustness?”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0946085" y="3409876"/>
            <a:ext cx="9525" cy="6210374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12810" y="3409876"/>
            <a:ext cx="6410102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AZIMUTH</a:t>
            </a:r>
            <a:endParaRPr lang="en-US" sz="1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8772" y="4623420"/>
            <a:ext cx="5195441" cy="28575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252790" y="8435429"/>
            <a:ext cx="6063585" cy="1222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0°, 45°, 90°, 180° azimuth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rain, fog, night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Oblique angles (90°, 180°) degrade worst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3076501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47750" y="742950"/>
            <a:ext cx="1781175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607" y="1249635"/>
            <a:ext cx="17837207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24"/>
              </a:lnSpc>
              <a:buNone/>
            </a:pPr>
            <a:r>
              <a:rPr lang="en-US" sz="4350" kern="0" spc="-43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measure how accuracy varies, using pre-trained models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047750" y="2028751"/>
            <a:ext cx="1667827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2100" dirty="0">
                <a:solidFill>
                  <a:srgbClr val="201F1D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pre-trained 3D object detection models to measure how detection accuracy varies by angle, weather and dataset - then combining two pre-trained models.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3409876"/>
            <a:ext cx="560194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WHAT VARIES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3897511"/>
            <a:ext cx="5601943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76"/>
              </a:lnSpc>
              <a:buNone/>
            </a:pPr>
            <a:r>
              <a:rPr lang="en-US" sz="2700" kern="0" spc="-4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Angle, weather, datasets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20165" y="4444231"/>
            <a:ext cx="5329528" cy="401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</a:t>
            </a:r>
            <a:r>
              <a:rPr lang="en-US" sz="19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- 0°, 45°, 90°, 180° (azimuth)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20165" y="4922341"/>
            <a:ext cx="5329528" cy="401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</a:t>
            </a:r>
            <a:r>
              <a:rPr lang="en-US" sz="19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clear, rain, fog, night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20165" y="5400452"/>
            <a:ext cx="4973040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</a:t>
            </a:r>
            <a:r>
              <a:rPr lang="en-US" sz="19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nuScenes (primary), Ithaca365 (validation), CADC (snow)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597625" y="3409876"/>
            <a:ext cx="9525" cy="6210374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64350" y="3409969"/>
            <a:ext cx="5088545" cy="392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 · ECCV 2024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64350" y="3897605"/>
            <a:ext cx="4764729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76"/>
              </a:lnSpc>
              <a:buNone/>
            </a:pPr>
            <a:r>
              <a:rPr lang="en-US" sz="2700" kern="0" spc="-4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SAMFusion - good for bad conditions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7064350" y="4838645"/>
            <a:ext cx="4764729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19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model designed specifically for adverse weather.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904330" y="5739651"/>
            <a:ext cx="4862170" cy="2643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trained on rain / fog / snow scenarios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Sensor-adaptive: learns which sensor to trust when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weights available (Princeton CI Lab)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in bad weather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147500" y="3409876"/>
            <a:ext cx="9525" cy="6210374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614225" y="3412749"/>
            <a:ext cx="5088627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 · ICRA 2023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614225" y="3900385"/>
            <a:ext cx="5088627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76"/>
              </a:lnSpc>
              <a:buNone/>
            </a:pPr>
            <a:r>
              <a:rPr lang="en-US" sz="2700" kern="0" spc="-4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BEVFusion - accuracy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2614225" y="4447105"/>
            <a:ext cx="476480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195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Industry-standard 3D object detection model.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454205" y="5348110"/>
            <a:ext cx="4862245" cy="1981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Production-proven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accuracy in clear weather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weights available (NVIDIA NGC)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on nuScenes clear weather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2104951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47750" y="742950"/>
            <a:ext cx="1781175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STRATEGY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607" y="1249635"/>
            <a:ext cx="17837207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24"/>
              </a:lnSpc>
              <a:buNone/>
            </a:pPr>
            <a:r>
              <a:rPr lang="en-US" sz="4350" kern="0" spc="-43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both models, combine their predictions</a:t>
            </a:r>
            <a:endParaRPr lang="en-US" sz="4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0" y="2438326"/>
            <a:ext cx="8741792" cy="30494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18254" y="3839223"/>
            <a:ext cx="14249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667"/>
              </a:lnSpc>
              <a:buNone/>
            </a:pPr>
            <a:r>
              <a:rPr lang="en-US" sz="19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1047750" y="6690749"/>
            <a:ext cx="22271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47750" y="5925921"/>
            <a:ext cx="2131888" cy="65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b="1" kern="0" spc="144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274888" y="6690749"/>
            <a:ext cx="250135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46338" y="5925921"/>
            <a:ext cx="2234654" cy="65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b="1" kern="0" spc="144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SAMFUSION ALONE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776243" y="6690749"/>
            <a:ext cx="246340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7693" y="5925921"/>
            <a:ext cx="2196703" cy="65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b="1" kern="0" spc="144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BEVFUSION ALONE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239646" y="6690749"/>
            <a:ext cx="154989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411096" y="5925921"/>
            <a:ext cx="1454646" cy="65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b="1" kern="0" spc="144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47750" y="7313669"/>
            <a:ext cx="22271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7750" y="6852674"/>
            <a:ext cx="2131888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weather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3274888" y="7313669"/>
            <a:ext cx="250135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446338" y="6852674"/>
            <a:ext cx="2234654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776243" y="7313669"/>
            <a:ext cx="246340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47693" y="6852674"/>
            <a:ext cx="2196703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239646" y="7313669"/>
            <a:ext cx="154989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411096" y="6852674"/>
            <a:ext cx="1454646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7D5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047750" y="8245184"/>
            <a:ext cx="22271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47750" y="7475594"/>
            <a:ext cx="2131888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fog + 90° angle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3274888" y="8245184"/>
            <a:ext cx="250135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446338" y="7475594"/>
            <a:ext cx="2234654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776243" y="8245184"/>
            <a:ext cx="246340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947693" y="7475594"/>
            <a:ext cx="2196703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8239646" y="8245184"/>
            <a:ext cx="154989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411096" y="7475594"/>
            <a:ext cx="1454646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7D5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1047750" y="8868104"/>
            <a:ext cx="22271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047750" y="8407109"/>
            <a:ext cx="2131888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 + 45° angle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3274888" y="8868104"/>
            <a:ext cx="250135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446338" y="8407109"/>
            <a:ext cx="2234654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5776243" y="8868104"/>
            <a:ext cx="246340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947693" y="8407109"/>
            <a:ext cx="2196703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8239646" y="8868104"/>
            <a:ext cx="154989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411096" y="8407109"/>
            <a:ext cx="1454646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7D5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10246742" y="2438326"/>
            <a:ext cx="9525" cy="7181924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0713467" y="2438357"/>
            <a:ext cx="7179461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1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0713467" y="2925993"/>
            <a:ext cx="7179461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76"/>
              </a:lnSpc>
              <a:buNone/>
            </a:pPr>
            <a:r>
              <a:rPr lang="en-US" sz="2700" kern="0" spc="-4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by weather</a:t>
            </a:r>
            <a:endParaRPr lang="en-US" sz="2700" dirty="0"/>
          </a:p>
        </p:txBody>
      </p:sp>
      <p:sp>
        <p:nvSpPr>
          <p:cNvPr id="42" name="Text 39"/>
          <p:cNvSpPr/>
          <p:nvPr/>
        </p:nvSpPr>
        <p:spPr>
          <a:xfrm>
            <a:off x="10540112" y="3472713"/>
            <a:ext cx="6776338" cy="870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weather → 70% SAM, 30% BEV</a:t>
            </a:r>
            <a:endParaRPr lang="en-US" sz="1950" dirty="0"/>
          </a:p>
          <a:p>
            <a:pPr marL="0" indent="0" algn="l">
              <a:lnSpc>
                <a:spcPct val="125667"/>
              </a:lnSpc>
              <a:buNone/>
            </a:pPr>
            <a:r>
              <a:rPr lang="en-US" sz="19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weather → 50% SAM, 50% BEV</a:t>
            </a:r>
            <a:endParaRPr lang="en-US" sz="1950" dirty="0"/>
          </a:p>
        </p:txBody>
      </p:sp>
      <p:sp>
        <p:nvSpPr>
          <p:cNvPr id="43" name="Text 40"/>
          <p:cNvSpPr/>
          <p:nvPr/>
        </p:nvSpPr>
        <p:spPr>
          <a:xfrm>
            <a:off x="10713467" y="4707391"/>
            <a:ext cx="7179461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2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10713467" y="5195026"/>
            <a:ext cx="7179461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76"/>
              </a:lnSpc>
              <a:buNone/>
            </a:pPr>
            <a:r>
              <a:rPr lang="en-US" sz="2700" kern="0" spc="-4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2700" dirty="0"/>
          </a:p>
        </p:txBody>
      </p:sp>
      <p:sp>
        <p:nvSpPr>
          <p:cNvPr id="45" name="Text 42"/>
          <p:cNvSpPr/>
          <p:nvPr/>
        </p:nvSpPr>
        <p:spPr>
          <a:xfrm>
            <a:off x="10540112" y="5741746"/>
            <a:ext cx="6776338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by each model's own confidence score</a:t>
            </a:r>
            <a:endParaRPr lang="en-US" sz="1950" dirty="0"/>
          </a:p>
        </p:txBody>
      </p:sp>
      <p:sp>
        <p:nvSpPr>
          <p:cNvPr id="46" name="Text 43"/>
          <p:cNvSpPr/>
          <p:nvPr/>
        </p:nvSpPr>
        <p:spPr>
          <a:xfrm>
            <a:off x="10713467" y="6500844"/>
            <a:ext cx="7179461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PROCESSING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0964927" y="6988479"/>
            <a:ext cx="692800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SAMFusion on each frame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10964927" y="7415169"/>
            <a:ext cx="692800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BEVFusion on each frame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10964927" y="7841860"/>
            <a:ext cx="692800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predictions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10964927" y="8268550"/>
            <a:ext cx="692800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 by angle + weather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10964927" y="8695240"/>
            <a:ext cx="692800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combined mAP per bin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2676451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47750" y="742950"/>
            <a:ext cx="1781175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DELIVERABLES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607" y="1249635"/>
            <a:ext cx="17837207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24"/>
              </a:lnSpc>
              <a:buNone/>
            </a:pPr>
            <a:r>
              <a:rPr lang="en-US" sz="4350" kern="0" spc="-43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Heatmaps: angle × weather → mAP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047750" y="2028751"/>
            <a:ext cx="178117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2100" dirty="0">
                <a:solidFill>
                  <a:srgbClr val="201F1D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does the combined model outperform both in adverse weather and at high angles?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47750" y="3009826"/>
            <a:ext cx="3787378" cy="538163"/>
          </a:xfrm>
          <a:prstGeom prst="roundRect">
            <a:avLst>
              <a:gd name="adj" fmla="val 3540"/>
            </a:avLst>
          </a:prstGeom>
          <a:solidFill>
            <a:srgbClr val="BA8031">
              <a:alpha val="10000"/>
            </a:srgbClr>
          </a:solidFill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10014" y="3133651"/>
            <a:ext cx="346284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72" dirty="0">
                <a:solidFill>
                  <a:srgbClr val="7D5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1 · SAMFusion alone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968478" y="3009826"/>
            <a:ext cx="3775993" cy="538163"/>
          </a:xfrm>
          <a:prstGeom prst="roundRect">
            <a:avLst>
              <a:gd name="adj" fmla="val 3540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30913" y="3133651"/>
            <a:ext cx="345112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72" dirty="0">
                <a:solidFill>
                  <a:srgbClr val="201F1D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2 · BEVFusion alone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3681338"/>
            <a:ext cx="3039666" cy="538163"/>
          </a:xfrm>
          <a:prstGeom prst="roundRect">
            <a:avLst>
              <a:gd name="adj" fmla="val 3540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21230" y="3805163"/>
            <a:ext cx="26927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72" dirty="0">
                <a:solidFill>
                  <a:srgbClr val="201F1D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3 · Combined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33650" y="4410001"/>
            <a:ext cx="194816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08" dirty="0">
                <a:solidFill>
                  <a:srgbClr val="201F1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61855" y="4410001"/>
            <a:ext cx="1948242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08" dirty="0">
                <a:solidFill>
                  <a:srgbClr val="201F1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90134" y="4410001"/>
            <a:ext cx="1948242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08" dirty="0">
                <a:solidFill>
                  <a:srgbClr val="201F1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18413" y="4410001"/>
            <a:ext cx="1948242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08" dirty="0">
                <a:solidFill>
                  <a:srgbClr val="201F1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7750" y="4821436"/>
            <a:ext cx="15049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08" dirty="0">
                <a:solidFill>
                  <a:srgbClr val="201F1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533650" y="4821436"/>
            <a:ext cx="1771055" cy="590550"/>
          </a:xfrm>
          <a:prstGeom prst="roundRect">
            <a:avLst>
              <a:gd name="adj" fmla="val 3226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05075" y="4830961"/>
            <a:ext cx="18282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61855" y="4821436"/>
            <a:ext cx="1771129" cy="590550"/>
          </a:xfrm>
          <a:prstGeom prst="roundRect">
            <a:avLst>
              <a:gd name="adj" fmla="val 3226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33280" y="4830961"/>
            <a:ext cx="18282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90134" y="4821436"/>
            <a:ext cx="1771129" cy="590550"/>
          </a:xfrm>
          <a:prstGeom prst="roundRect">
            <a:avLst>
              <a:gd name="adj" fmla="val 3226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61559" y="4830961"/>
            <a:ext cx="18282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18413" y="4821436"/>
            <a:ext cx="1771129" cy="590550"/>
          </a:xfrm>
          <a:prstGeom prst="roundRect">
            <a:avLst>
              <a:gd name="adj" fmla="val 3226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89838" y="4830961"/>
            <a:ext cx="18282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47750" y="5469136"/>
            <a:ext cx="15049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08" dirty="0">
                <a:solidFill>
                  <a:srgbClr val="201F1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533650" y="5469136"/>
            <a:ext cx="1771055" cy="590550"/>
          </a:xfrm>
          <a:prstGeom prst="roundRect">
            <a:avLst>
              <a:gd name="adj" fmla="val 3226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05075" y="5478661"/>
            <a:ext cx="18282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361855" y="5469136"/>
            <a:ext cx="1771129" cy="590550"/>
          </a:xfrm>
          <a:prstGeom prst="roundRect">
            <a:avLst>
              <a:gd name="adj" fmla="val 3226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33280" y="5478661"/>
            <a:ext cx="18282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190134" y="5469136"/>
            <a:ext cx="1771129" cy="590550"/>
          </a:xfrm>
          <a:prstGeom prst="roundRect">
            <a:avLst>
              <a:gd name="adj" fmla="val 3226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61559" y="5478661"/>
            <a:ext cx="18282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018413" y="5469136"/>
            <a:ext cx="1771129" cy="590550"/>
          </a:xfrm>
          <a:prstGeom prst="roundRect">
            <a:avLst>
              <a:gd name="adj" fmla="val 3226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989838" y="5478661"/>
            <a:ext cx="18282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47750" y="6116836"/>
            <a:ext cx="15049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08" dirty="0">
                <a:solidFill>
                  <a:srgbClr val="201F1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FOG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2533650" y="6116836"/>
            <a:ext cx="1771055" cy="590550"/>
          </a:xfrm>
          <a:prstGeom prst="roundRect">
            <a:avLst>
              <a:gd name="adj" fmla="val 3226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05075" y="6126361"/>
            <a:ext cx="18282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361855" y="6116836"/>
            <a:ext cx="1771129" cy="590550"/>
          </a:xfrm>
          <a:prstGeom prst="roundRect">
            <a:avLst>
              <a:gd name="adj" fmla="val 3226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333280" y="6126361"/>
            <a:ext cx="18282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190134" y="6116836"/>
            <a:ext cx="1771129" cy="590550"/>
          </a:xfrm>
          <a:prstGeom prst="roundRect">
            <a:avLst>
              <a:gd name="adj" fmla="val 3226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61559" y="6126361"/>
            <a:ext cx="18282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018413" y="6116836"/>
            <a:ext cx="1771129" cy="590550"/>
          </a:xfrm>
          <a:prstGeom prst="roundRect">
            <a:avLst>
              <a:gd name="adj" fmla="val 3226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989838" y="6126361"/>
            <a:ext cx="18282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047750" y="6764536"/>
            <a:ext cx="15049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08" dirty="0">
                <a:solidFill>
                  <a:srgbClr val="201F1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2533650" y="6764536"/>
            <a:ext cx="1771055" cy="590550"/>
          </a:xfrm>
          <a:prstGeom prst="roundRect">
            <a:avLst>
              <a:gd name="adj" fmla="val 3226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505075" y="6774061"/>
            <a:ext cx="18282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361855" y="6764536"/>
            <a:ext cx="1771129" cy="590550"/>
          </a:xfrm>
          <a:prstGeom prst="roundRect">
            <a:avLst>
              <a:gd name="adj" fmla="val 3226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333280" y="6774061"/>
            <a:ext cx="18282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6190134" y="6764536"/>
            <a:ext cx="1771129" cy="590550"/>
          </a:xfrm>
          <a:prstGeom prst="roundRect">
            <a:avLst>
              <a:gd name="adj" fmla="val 3226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161559" y="6774061"/>
            <a:ext cx="18282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8018413" y="6764536"/>
            <a:ext cx="1771129" cy="590550"/>
          </a:xfrm>
          <a:prstGeom prst="roundRect">
            <a:avLst>
              <a:gd name="adj" fmla="val 3226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989838" y="6774061"/>
            <a:ext cx="18282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5273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047750" y="7526536"/>
            <a:ext cx="961597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are filled per bin by the Phase 1 runs — select a heatmap above.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0246742" y="3009826"/>
            <a:ext cx="9525" cy="6610424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0713467" y="3009859"/>
            <a:ext cx="7179461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0964927" y="3497494"/>
            <a:ext cx="692800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characterisation using the combined approach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0964927" y="3924185"/>
            <a:ext cx="647112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heatmaps: SAMFusion alone, BEVFusion alone, combined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0964927" y="4682315"/>
            <a:ext cx="6928001" cy="369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Cross-dataset validation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0964927" y="5109006"/>
            <a:ext cx="647112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analysis: does the combined model outperform both in adverse weather and clear conditions?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0964927" y="5867136"/>
            <a:ext cx="647112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here is how the combined approach handles different angles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0713467" y="6894218"/>
            <a:ext cx="7179461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0964927" y="7381853"/>
            <a:ext cx="692800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of combined weighting (if time allows)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0964927" y="7808543"/>
            <a:ext cx="692800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deployment considerations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2104951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47750" y="742950"/>
            <a:ext cx="1781175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CANBUS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607" y="1249635"/>
            <a:ext cx="17837207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24"/>
              </a:lnSpc>
              <a:buNone/>
            </a:pPr>
            <a:r>
              <a:rPr lang="en-US" sz="4350" kern="0" spc="-43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options for CANBUS integration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047750" y="3046958"/>
            <a:ext cx="3048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0" y="2590726"/>
            <a:ext cx="2967990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b="1" kern="0" spc="144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095750" y="3046958"/>
            <a:ext cx="13144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67200" y="2590726"/>
            <a:ext cx="13367385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b="1" kern="0" spc="144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3978473"/>
            <a:ext cx="3048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0" y="3208883"/>
            <a:ext cx="296799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Input only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95750" y="3978473"/>
            <a:ext cx="13144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67200" y="3208883"/>
            <a:ext cx="1336738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vehicle speed, steering angle, acceleration to provide context for detection - improves object classification by understanding vehicle motion.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4909989"/>
            <a:ext cx="3048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47750" y="4140398"/>
            <a:ext cx="296799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Output only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095750" y="4909989"/>
            <a:ext cx="13144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67200" y="4140398"/>
            <a:ext cx="1336738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brake commands to trigger AEB based on detection confidence: detection confidence &gt; threshold → activate AEB via CANBUS.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47750" y="6150099"/>
            <a:ext cx="3048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7750" y="5071914"/>
            <a:ext cx="2967990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Full AEB loop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095750" y="6150099"/>
            <a:ext cx="13144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67200" y="5071914"/>
            <a:ext cx="13367385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vehicle state, then decide AEB trigger based on detection + speed + angle + weather: read speed, brake status and steering from CANBUS; detect objects, confidence, angle and weather; decide the AEB threshold from all factors; write the brake command via CANBUS.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7081614"/>
            <a:ext cx="3048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47750" y="6312024"/>
            <a:ext cx="296799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Validation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095750" y="7081614"/>
            <a:ext cx="13144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67200" y="6312024"/>
            <a:ext cx="1336738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CANBUS data to validate detection logic: braking → detected objects stable ahead; accelerating → detected objects move backward.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47750" y="8013129"/>
            <a:ext cx="3048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47750" y="7243539"/>
            <a:ext cx="296799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Contextual weighting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095750" y="8013129"/>
            <a:ext cx="13144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67200" y="7243539"/>
            <a:ext cx="1336738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vehicle speed to adjust SAMFusion vs BEVFusion weights: low speed / bad weather → favour SAMFusion; high speed / clear weather → favour BEVFusion.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2104951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47750" y="742950"/>
            <a:ext cx="1781175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CONCLUSION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607" y="1249635"/>
            <a:ext cx="17837207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24"/>
              </a:lnSpc>
              <a:buNone/>
            </a:pPr>
            <a:r>
              <a:rPr lang="en-US" sz="4350" kern="0" spc="-43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a robustness specialist with an accuracy specialist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320165" y="2438326"/>
            <a:ext cx="8382000" cy="401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SAMFusion </a:t>
            </a:r>
            <a:r>
              <a:rPr lang="en-US" sz="19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weather robustness specialist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20165" y="2916436"/>
            <a:ext cx="8382000" cy="401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BEVFusion </a:t>
            </a:r>
            <a:r>
              <a:rPr lang="en-US" sz="19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accuracy specialist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47750" y="3661278"/>
            <a:ext cx="786765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47750" y="3899403"/>
            <a:ext cx="865441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2550" kern="0" spc="204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47750" y="4304216"/>
            <a:ext cx="8103679" cy="1252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25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does adverse weather affect LIDAR-camera fusion perfomance across different observations angles, and can combined fusion models improve robustness?”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47750" y="5901888"/>
            <a:ext cx="8654415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DELIVERABLES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47750" y="6399792"/>
            <a:ext cx="8103870" cy="1222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heatmaps plus cross-dataset validation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 of the combined approach against both models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combined approach handles different angles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72600" y="2438326"/>
            <a:ext cx="9525" cy="7181924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39325" y="2438357"/>
            <a:ext cx="8141017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TECH STACK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39325" y="2925993"/>
            <a:ext cx="38609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48"/>
              </a:lnSpc>
              <a:buNone/>
            </a:pPr>
            <a:r>
              <a:rPr lang="en-US" sz="2250" kern="0" spc="-34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&amp; frameworks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679305" y="3383193"/>
            <a:ext cx="3746183" cy="1649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3.10+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2.0+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MMDetection3D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30288" y="2925993"/>
            <a:ext cx="38609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48"/>
              </a:lnSpc>
              <a:buNone/>
            </a:pPr>
            <a:r>
              <a:rPr lang="en-US" sz="2250" kern="0" spc="-34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tools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3570268" y="3383193"/>
            <a:ext cx="3746183" cy="1649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DevKit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KITTI Tools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Open3D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CARMAKER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839325" y="5263639"/>
            <a:ext cx="38609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48"/>
              </a:lnSpc>
              <a:buNone/>
            </a:pPr>
            <a:r>
              <a:rPr lang="en-US" sz="2250" kern="0" spc="-34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&amp; analysis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679305" y="5720839"/>
            <a:ext cx="3746183" cy="1222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/ SciPy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30288" y="5263639"/>
            <a:ext cx="38609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48"/>
              </a:lnSpc>
              <a:buNone/>
            </a:pPr>
            <a:r>
              <a:rPr lang="en-US" sz="2250" kern="0" spc="-34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 &amp; tooling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570268" y="5720839"/>
            <a:ext cx="3746183" cy="1649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</a:t>
            </a:r>
            <a:endParaRPr lang="en-US" sz="1800" dirty="0"/>
          </a:p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201F1D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Code, Git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1006</Words>
  <Application>Microsoft Macintosh PowerPoint</Application>
  <PresentationFormat>Custom</PresentationFormat>
  <Paragraphs>162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Dhananjay Mahendiratta</cp:lastModifiedBy>
  <cp:revision>3</cp:revision>
  <dcterms:created xsi:type="dcterms:W3CDTF">2026-08-26T17:13:45Z</dcterms:created>
  <dcterms:modified xsi:type="dcterms:W3CDTF">2026-08-26T17:36:52Z</dcterms:modified>
</cp:coreProperties>
</file>